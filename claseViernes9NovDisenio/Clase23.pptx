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5143500" cx="9144000"/>
  <p:notesSz cx="6858000" cy="9144000"/>
  <p:embeddedFontLst>
    <p:embeddedFont>
      <p:font typeface="Titillium Web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TitilliumWeb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TitilliumWeb-italic.fntdata"/><Relationship Id="rId12" Type="http://schemas.openxmlformats.org/officeDocument/2006/relationships/slide" Target="slides/slide8.xml"/><Relationship Id="rId34" Type="http://schemas.openxmlformats.org/officeDocument/2006/relationships/font" Target="fonts/TitilliumWeb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font" Target="fonts/TitilliumWeb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lantuml.com/es/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82d3d5330f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82d3d533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82d3d5330f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82d3d533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82d3d5330f_0_7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82d3d5330f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53ff658d1b_0_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53ff658d1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53ff658d1b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53ff658d1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53ff658d1b_0_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53ff658d1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3ff658d1b_0_7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3ff658d1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53ff658d1b_0_5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53ff658d1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53ff658d1b_0_8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53ff658d1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53ff658d1b_0_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53ff658d1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53ff658d1b_0_18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53ff658d1b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https://plantuml.com/es/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53ff658d1b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53ff658d1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Agente de cómputo (procesador de información): celulares, computadoras de escritor, incluso raspberrypi, arduino o dispositivos IOT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53ff658d1b_0_9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53ff658d1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53ff658d1b_0_4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53ff658d1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53ff658d1b_0_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53ff658d1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53ff658d1b_0_1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53ff658d1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53ff658d1b_0_1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53ff658d1b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Ojo, no todo sistema web necesita almacenamiento. Ejemplo una calculadora online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53ff658d1b_0_1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53ff658d1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MVC Web liviano: la mayor parte del codigo del sistema esta del lado del servidor, escrito en el lenguaje de programacion del servidor, y usando tecnologias especificas del mismo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MVC Web pesado: el codigo del sistema esta distribuido de forma mas pareja entre el cliente y el servidor; el codigo en el cliente es mas coplejo y esta siempre escrito en JavaScript usando tecnologias del naegador siempre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53ff658d1b_0_1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53ff658d1b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Escala horizontal vs vertical. Nginx. Tolerancia a fallos. Costo beneficio y downtime.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53ff658d1b_0_16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53ff658d1b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53ff658d1b_0_16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53ff658d1b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53ff658d1b_0_1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53ff658d1b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53ff658d1b_0_1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53ff658d1b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53ff658d1b_0_15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53ff658d1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f895c08712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f895c087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3ff658d1b_0_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3ff658d1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Pueden hacer EntregasYaYaYa, Rekomendashi y Shera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82d3d5330f_0_70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82d3d5330f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745800"/>
          </a:xfrm>
          <a:prstGeom prst="rect">
            <a:avLst/>
          </a:prstGeom>
          <a:solidFill>
            <a:srgbClr val="FF0040">
              <a:alpha val="81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79000" y="1920450"/>
            <a:ext cx="54300" cy="119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1915625"/>
            <a:ext cx="54123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9144000" cy="374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579000" y="1722000"/>
            <a:ext cx="54300" cy="136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" name="Google Shape;16;p3"/>
          <p:cNvSpPr txBox="1"/>
          <p:nvPr>
            <p:ph type="ctrTitle"/>
          </p:nvPr>
        </p:nvSpPr>
        <p:spPr>
          <a:xfrm>
            <a:off x="826350" y="1519225"/>
            <a:ext cx="46383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26350" y="2763850"/>
            <a:ext cx="76320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-9750"/>
            <a:ext cx="7726800" cy="516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1261050" y="1058150"/>
            <a:ext cx="54045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Char char="▪"/>
              <a:defRPr i="1" sz="3000">
                <a:solidFill>
                  <a:srgbClr val="FFFFFF"/>
                </a:solidFill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i="1" sz="3000">
                <a:solidFill>
                  <a:srgbClr val="FFFFFF"/>
                </a:solidFill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▸"/>
              <a:defRPr i="1" sz="3000">
                <a:solidFill>
                  <a:srgbClr val="FFFFFF"/>
                </a:solidFill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▹"/>
              <a:defRPr i="1" sz="3000">
                <a:solidFill>
                  <a:srgbClr val="FFFFFF"/>
                </a:solidFill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▹"/>
              <a:defRPr i="1" sz="3000">
                <a:solidFill>
                  <a:srgbClr val="FFFFFF"/>
                </a:solidFill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▹"/>
              <a:defRPr i="1" sz="3000">
                <a:solidFill>
                  <a:srgbClr val="FFFFFF"/>
                </a:solidFill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▹"/>
              <a:defRPr i="1" sz="3000">
                <a:solidFill>
                  <a:srgbClr val="FFFFFF"/>
                </a:solidFill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▹"/>
              <a:defRPr i="1" sz="3000">
                <a:solidFill>
                  <a:srgbClr val="FFFFFF"/>
                </a:solidFill>
              </a:defRPr>
            </a:lvl8pPr>
            <a:lvl9pPr indent="-4191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▹"/>
              <a:defRPr i="1"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/>
        </p:nvSpPr>
        <p:spPr>
          <a:xfrm>
            <a:off x="439873" y="742344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FFFFFF"/>
                </a:solidFill>
              </a:rPr>
              <a:t>“</a:t>
            </a:r>
            <a:endParaRPr b="1" sz="9600">
              <a:solidFill>
                <a:srgbClr val="FFFFFF"/>
              </a:solidFill>
            </a:endParaRPr>
          </a:p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844425" y="1586325"/>
            <a:ext cx="5971500" cy="31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9pPr>
          </a:lstStyle>
          <a:p/>
        </p:txBody>
      </p:sp>
      <p:sp>
        <p:nvSpPr>
          <p:cNvPr id="27" name="Google Shape;27;p5"/>
          <p:cNvSpPr/>
          <p:nvPr/>
        </p:nvSpPr>
        <p:spPr>
          <a:xfrm>
            <a:off x="579000" y="579000"/>
            <a:ext cx="54300" cy="67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9089700" y="0"/>
            <a:ext cx="543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844425" y="1584700"/>
            <a:ext cx="3267300" cy="32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2" type="body"/>
          </p:nvPr>
        </p:nvSpPr>
        <p:spPr>
          <a:xfrm>
            <a:off x="4308498" y="1584700"/>
            <a:ext cx="3267300" cy="32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9pPr>
          </a:lstStyle>
          <a:p/>
        </p:txBody>
      </p:sp>
      <p:sp>
        <p:nvSpPr>
          <p:cNvPr id="34" name="Google Shape;34;p6"/>
          <p:cNvSpPr/>
          <p:nvPr/>
        </p:nvSpPr>
        <p:spPr>
          <a:xfrm>
            <a:off x="579000" y="579000"/>
            <a:ext cx="54300" cy="67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9089700" y="0"/>
            <a:ext cx="543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844425" y="1610450"/>
            <a:ext cx="2257200" cy="3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▸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▹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▹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▹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▹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▹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▹"/>
              <a:defRPr sz="1400"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3217286" y="1610450"/>
            <a:ext cx="2257200" cy="3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▸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▹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▹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▹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▹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▹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▹"/>
              <a:defRPr sz="1400"/>
            </a:lvl9pPr>
          </a:lstStyle>
          <a:p/>
        </p:txBody>
      </p:sp>
      <p:sp>
        <p:nvSpPr>
          <p:cNvPr id="41" name="Google Shape;41;p7"/>
          <p:cNvSpPr txBox="1"/>
          <p:nvPr>
            <p:ph idx="3" type="body"/>
          </p:nvPr>
        </p:nvSpPr>
        <p:spPr>
          <a:xfrm>
            <a:off x="5590146" y="1610450"/>
            <a:ext cx="2257200" cy="3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▸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▹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▹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▹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▹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▹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▹"/>
              <a:defRPr sz="1400"/>
            </a:lvl9pPr>
          </a:lstStyle>
          <a:p/>
        </p:txBody>
      </p:sp>
      <p:sp>
        <p:nvSpPr>
          <p:cNvPr id="42" name="Google Shape;42;p7"/>
          <p:cNvSpPr/>
          <p:nvPr/>
        </p:nvSpPr>
        <p:spPr>
          <a:xfrm>
            <a:off x="579000" y="579000"/>
            <a:ext cx="54300" cy="67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9089700" y="0"/>
            <a:ext cx="543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7" name="Google Shape;47;p8"/>
          <p:cNvSpPr/>
          <p:nvPr/>
        </p:nvSpPr>
        <p:spPr>
          <a:xfrm>
            <a:off x="579000" y="579000"/>
            <a:ext cx="54300" cy="67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/>
          <p:nvPr/>
        </p:nvSpPr>
        <p:spPr>
          <a:xfrm>
            <a:off x="9089700" y="0"/>
            <a:ext cx="543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color">
  <p:cSld name="TITLE_ONL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/>
          <p:nvPr/>
        </p:nvSpPr>
        <p:spPr>
          <a:xfrm>
            <a:off x="0" y="0"/>
            <a:ext cx="9144000" cy="374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3" name="Google Shape;53;p9"/>
          <p:cNvSpPr/>
          <p:nvPr/>
        </p:nvSpPr>
        <p:spPr>
          <a:xfrm>
            <a:off x="579000" y="579000"/>
            <a:ext cx="54300" cy="67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half">
  <p:cSld name="TITLE_ONLY_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>
            <a:off x="0" y="0"/>
            <a:ext cx="4578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0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8" name="Google Shape;58;p10"/>
          <p:cNvSpPr/>
          <p:nvPr/>
        </p:nvSpPr>
        <p:spPr>
          <a:xfrm>
            <a:off x="579000" y="579000"/>
            <a:ext cx="54300" cy="67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" name="Google Shape;59;p10"/>
          <p:cNvSpPr/>
          <p:nvPr/>
        </p:nvSpPr>
        <p:spPr>
          <a:xfrm>
            <a:off x="9089700" y="0"/>
            <a:ext cx="54300" cy="5143500"/>
          </a:xfrm>
          <a:prstGeom prst="rect">
            <a:avLst/>
          </a:prstGeom>
          <a:solidFill>
            <a:srgbClr val="FF00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background">
  <p:cSld name="TITLE_ONLY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/>
          <p:nvPr/>
        </p:nvSpPr>
        <p:spPr>
          <a:xfrm>
            <a:off x="0" y="0"/>
            <a:ext cx="2292000" cy="5143500"/>
          </a:xfrm>
          <a:prstGeom prst="rect">
            <a:avLst/>
          </a:prstGeom>
          <a:solidFill>
            <a:srgbClr val="FF0040">
              <a:alpha val="81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" type="body"/>
          </p:nvPr>
        </p:nvSpPr>
        <p:spPr>
          <a:xfrm>
            <a:off x="633300" y="4285675"/>
            <a:ext cx="80535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/>
        </p:txBody>
      </p:sp>
      <p:sp>
        <p:nvSpPr>
          <p:cNvPr id="66" name="Google Shape;66;p12"/>
          <p:cNvSpPr/>
          <p:nvPr/>
        </p:nvSpPr>
        <p:spPr>
          <a:xfrm>
            <a:off x="579000" y="4467900"/>
            <a:ext cx="54300" cy="67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2"/>
          <p:cNvSpPr/>
          <p:nvPr/>
        </p:nvSpPr>
        <p:spPr>
          <a:xfrm>
            <a:off x="9089700" y="0"/>
            <a:ext cx="543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/>
          <p:nvPr/>
        </p:nvSpPr>
        <p:spPr>
          <a:xfrm>
            <a:off x="9089700" y="0"/>
            <a:ext cx="543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0" y="0"/>
            <a:ext cx="9144000" cy="259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tillium Web"/>
              <a:buNone/>
              <a:defRPr b="1" sz="26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tillium Web"/>
              <a:buNone/>
              <a:defRPr b="1" sz="26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tillium Web"/>
              <a:buNone/>
              <a:defRPr b="1" sz="26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tillium Web"/>
              <a:buNone/>
              <a:defRPr b="1" sz="26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tillium Web"/>
              <a:buNone/>
              <a:defRPr b="1" sz="26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tillium Web"/>
              <a:buNone/>
              <a:defRPr b="1" sz="26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tillium Web"/>
              <a:buNone/>
              <a:defRPr b="1" sz="26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tillium Web"/>
              <a:buNone/>
              <a:defRPr b="1" sz="26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tillium Web"/>
              <a:buNone/>
              <a:defRPr b="1" sz="26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3798" y="1586325"/>
            <a:ext cx="6092100" cy="3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itillium Web"/>
              <a:buChar char="▪"/>
              <a:defRPr sz="1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itillium Web"/>
              <a:buChar char="▫"/>
              <a:defRPr sz="1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itillium Web"/>
              <a:buChar char="▸"/>
              <a:defRPr sz="1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rgbClr val="FF004E"/>
              </a:buClr>
              <a:buSzPts val="1800"/>
              <a:buFont typeface="Titillium Web"/>
              <a:buChar char="▹"/>
              <a:defRPr sz="1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rgbClr val="FF004E"/>
              </a:buClr>
              <a:buSzPts val="1800"/>
              <a:buFont typeface="Titillium Web"/>
              <a:buChar char="▹"/>
              <a:defRPr sz="1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rgbClr val="FF004E"/>
              </a:buClr>
              <a:buSzPts val="1800"/>
              <a:buFont typeface="Titillium Web"/>
              <a:buChar char="▹"/>
              <a:defRPr sz="1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rgbClr val="FF004E"/>
              </a:buClr>
              <a:buSzPts val="1800"/>
              <a:buFont typeface="Titillium Web"/>
              <a:buChar char="▹"/>
              <a:defRPr sz="1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rgbClr val="FF004E"/>
              </a:buClr>
              <a:buSzPts val="1800"/>
              <a:buFont typeface="Titillium Web"/>
              <a:buChar char="▹"/>
              <a:defRPr sz="1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rgbClr val="FF004E"/>
              </a:buClr>
              <a:buSzPts val="1800"/>
              <a:buFont typeface="Titillium Web"/>
              <a:buChar char="▹"/>
              <a:defRPr sz="1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b="1" sz="1200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r">
              <a:buNone/>
              <a:defRPr b="1" sz="1200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 algn="r">
              <a:buNone/>
              <a:defRPr b="1" sz="1200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 algn="r">
              <a:buNone/>
              <a:defRPr b="1" sz="1200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 algn="r">
              <a:buNone/>
              <a:defRPr b="1" sz="1200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 algn="r">
              <a:buNone/>
              <a:defRPr b="1" sz="1200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 algn="r">
              <a:buNone/>
              <a:defRPr b="1" sz="1200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 algn="r">
              <a:buNone/>
              <a:defRPr b="1" sz="1200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 algn="r">
              <a:buNone/>
              <a:defRPr b="1" sz="1200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ctrTitle"/>
          </p:nvPr>
        </p:nvSpPr>
        <p:spPr>
          <a:xfrm>
            <a:off x="685800" y="1915625"/>
            <a:ext cx="62514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Diseño de Sistemas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4E"/>
                </a:solidFill>
              </a:rPr>
              <a:t>de la clase</a:t>
            </a:r>
            <a:endParaRPr>
              <a:solidFill>
                <a:srgbClr val="FF004E"/>
              </a:solidFill>
            </a:endParaRPr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844425" y="1700325"/>
            <a:ext cx="5971500" cy="29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Arquitectura: Repaso y Contexto DDS</a:t>
            </a:r>
            <a:endParaRPr/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Componentes </a:t>
            </a:r>
            <a:r>
              <a:rPr lang="en" strike="sngStrike"/>
              <a:t>Arquitecturales </a:t>
            </a:r>
            <a:r>
              <a:rPr lang="en"/>
              <a:t>Arquitectónicos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Estilos y Patrones</a:t>
            </a:r>
            <a:endParaRPr/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Documentación</a:t>
            </a:r>
            <a:endParaRPr/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Despliegue</a:t>
            </a:r>
            <a:endParaRPr/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Caso de estudio: Pedidos Ya Ya Ya</a:t>
            </a:r>
            <a:endParaRPr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ctrTitle"/>
          </p:nvPr>
        </p:nvSpPr>
        <p:spPr>
          <a:xfrm>
            <a:off x="826350" y="1519225"/>
            <a:ext cx="76320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1</a:t>
            </a:r>
            <a:r>
              <a:rPr lang="en" sz="2900"/>
              <a:t>.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Arquitectura: Repaso y Contexto DDS</a:t>
            </a:r>
            <a:endParaRPr sz="2900"/>
          </a:p>
        </p:txBody>
      </p:sp>
      <p:sp>
        <p:nvSpPr>
          <p:cNvPr id="92" name="Google Shape;92;p17"/>
          <p:cNvSpPr txBox="1"/>
          <p:nvPr>
            <p:ph idx="1" type="subTitle"/>
          </p:nvPr>
        </p:nvSpPr>
        <p:spPr>
          <a:xfrm>
            <a:off x="826350" y="2763850"/>
            <a:ext cx="76320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Usted está aquí</a:t>
            </a:r>
            <a:endParaRPr/>
          </a:p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844425" y="422500"/>
            <a:ext cx="35514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¿Qué era la arquitectura?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844425" y="1586325"/>
            <a:ext cx="6792600" cy="31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el diseño de los </a:t>
            </a:r>
            <a:r>
              <a:rPr lang="en">
                <a:solidFill>
                  <a:srgbClr val="FF004E"/>
                </a:solidFill>
              </a:rPr>
              <a:t>componentes lógicos de alto nivel</a:t>
            </a:r>
            <a:endParaRPr>
              <a:solidFill>
                <a:srgbClr val="FF004E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la toma de decisiones sobre </a:t>
            </a:r>
            <a:r>
              <a:rPr lang="en">
                <a:solidFill>
                  <a:srgbClr val="FF004E"/>
                </a:solidFill>
              </a:rPr>
              <a:t>aspectos difíciles de cambiar</a:t>
            </a:r>
            <a:endParaRPr>
              <a:solidFill>
                <a:srgbClr val="FF004E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el diseño centrado en satisfacer </a:t>
            </a:r>
            <a:r>
              <a:rPr lang="en">
                <a:solidFill>
                  <a:srgbClr val="FF004E"/>
                </a:solidFill>
              </a:rPr>
              <a:t>requerimientos no funcionales</a:t>
            </a:r>
            <a:endParaRPr>
              <a:solidFill>
                <a:srgbClr val="FF004E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el diseño de los aspectos </a:t>
            </a:r>
            <a:r>
              <a:rPr lang="en">
                <a:solidFill>
                  <a:srgbClr val="FF004E"/>
                </a:solidFill>
              </a:rPr>
              <a:t>físicos del sistema</a:t>
            </a:r>
            <a:endParaRPr>
              <a:solidFill>
                <a:srgbClr val="FF004E"/>
              </a:solidFill>
            </a:endParaRPr>
          </a:p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844425" y="422500"/>
            <a:ext cx="35514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Orientación al final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844425" y="1586325"/>
            <a:ext cx="6792600" cy="31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</a:pPr>
            <a:r>
              <a:rPr lang="en">
                <a:solidFill>
                  <a:schemeClr val="accent1"/>
                </a:solidFill>
              </a:rPr>
              <a:t>Documentar</a:t>
            </a:r>
            <a:r>
              <a:rPr lang="en">
                <a:solidFill>
                  <a:srgbClr val="000000"/>
                </a:solidFill>
              </a:rPr>
              <a:t> descripciones arquitectónicas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</a:pPr>
            <a:r>
              <a:rPr lang="en">
                <a:solidFill>
                  <a:schemeClr val="accent1"/>
                </a:solidFill>
              </a:rPr>
              <a:t>Entender</a:t>
            </a:r>
            <a:r>
              <a:rPr lang="en"/>
              <a:t> diagramas arquitectónicos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</a:pPr>
            <a:r>
              <a:rPr lang="en"/>
              <a:t>Pero no tanto </a:t>
            </a:r>
            <a:r>
              <a:rPr lang="en">
                <a:solidFill>
                  <a:schemeClr val="accent1"/>
                </a:solidFill>
              </a:rPr>
              <a:t>crear </a:t>
            </a:r>
            <a:r>
              <a:rPr lang="en"/>
              <a:t>(porque nos llevaría mucho tiempo)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Recuerden enviar consultas al </a:t>
            </a:r>
            <a:r>
              <a:rPr b="1" lang="en">
                <a:solidFill>
                  <a:srgbClr val="FF004E"/>
                </a:solidFill>
              </a:rPr>
              <a:t>foro</a:t>
            </a:r>
            <a:endParaRPr b="1">
              <a:solidFill>
                <a:srgbClr val="FF004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844425" y="422500"/>
            <a:ext cx="35514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Preparación para el final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844425" y="1586325"/>
            <a:ext cx="6792600" cy="31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</a:pPr>
            <a:r>
              <a:rPr lang="en">
                <a:solidFill>
                  <a:schemeClr val="accent1"/>
                </a:solidFill>
              </a:rPr>
              <a:t>Hacer finales</a:t>
            </a:r>
            <a:r>
              <a:rPr lang="en">
                <a:solidFill>
                  <a:srgbClr val="000000"/>
                </a:solidFill>
              </a:rPr>
              <a:t> anteriores (a veces subimos, pero también están en Facebook)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</a:pPr>
            <a:r>
              <a:rPr lang="en">
                <a:solidFill>
                  <a:schemeClr val="accent1"/>
                </a:solidFill>
              </a:rPr>
              <a:t>Hacer guía de ejercicios</a:t>
            </a:r>
            <a:r>
              <a:rPr lang="en">
                <a:solidFill>
                  <a:srgbClr val="000000"/>
                </a:solidFill>
              </a:rPr>
              <a:t> para practicar sobre planteo desde cero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</a:pPr>
            <a:r>
              <a:rPr lang="en">
                <a:solidFill>
                  <a:schemeClr val="accent1"/>
                </a:solidFill>
              </a:rPr>
              <a:t>Hacer guía de mumuki</a:t>
            </a:r>
            <a:r>
              <a:rPr lang="en">
                <a:solidFill>
                  <a:srgbClr val="000000"/>
                </a:solidFill>
              </a:rPr>
              <a:t> para un caso de estudio concreto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Recuerden enviar consultas al </a:t>
            </a:r>
            <a:r>
              <a:rPr b="1" lang="en">
                <a:solidFill>
                  <a:srgbClr val="FF004E"/>
                </a:solidFill>
              </a:rPr>
              <a:t>foro</a:t>
            </a:r>
            <a:endParaRPr b="1">
              <a:solidFill>
                <a:srgbClr val="FF004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ctrTitle"/>
          </p:nvPr>
        </p:nvSpPr>
        <p:spPr>
          <a:xfrm>
            <a:off x="826350" y="1519225"/>
            <a:ext cx="76320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2</a:t>
            </a:r>
            <a:r>
              <a:rPr lang="en" sz="2900"/>
              <a:t>.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/>
              <a:t>Componentes Arquitecturales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  <p:sp>
        <p:nvSpPr>
          <p:cNvPr id="120" name="Google Shape;120;p21"/>
          <p:cNvSpPr txBox="1"/>
          <p:nvPr>
            <p:ph idx="1" type="subTitle"/>
          </p:nvPr>
        </p:nvSpPr>
        <p:spPr>
          <a:xfrm>
            <a:off x="826350" y="2763850"/>
            <a:ext cx="76320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¿Qué hay en la despensa?</a:t>
            </a:r>
            <a:endParaRPr/>
          </a:p>
        </p:txBody>
      </p:sp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Componentes clásicos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844425" y="1586325"/>
            <a:ext cx="5971500" cy="31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Nodos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Servidores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Clientes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Pares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Balanceadores de carga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Cachés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Bases de datos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Colas de mensaje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ESB: enterprise service bus (~broker)</a:t>
            </a:r>
            <a:endParaRPr/>
          </a:p>
        </p:txBody>
      </p:sp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ctrTitle"/>
          </p:nvPr>
        </p:nvSpPr>
        <p:spPr>
          <a:xfrm>
            <a:off x="826350" y="1519225"/>
            <a:ext cx="76320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3</a:t>
            </a:r>
            <a:r>
              <a:rPr lang="en" sz="2900"/>
              <a:t>.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Estilos arquitectónicos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  <p:sp>
        <p:nvSpPr>
          <p:cNvPr id="134" name="Google Shape;134;p23"/>
          <p:cNvSpPr txBox="1"/>
          <p:nvPr>
            <p:ph idx="1" type="subTitle"/>
          </p:nvPr>
        </p:nvSpPr>
        <p:spPr>
          <a:xfrm>
            <a:off x="826350" y="2763850"/>
            <a:ext cx="76320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¿Qué hay en el menú?</a:t>
            </a:r>
            <a:endParaRPr/>
          </a:p>
        </p:txBody>
      </p:sp>
      <p:sp>
        <p:nvSpPr>
          <p:cNvPr id="135" name="Google Shape;135;p2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844425" y="422500"/>
            <a:ext cx="73605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Popurrí</a:t>
            </a:r>
            <a:r>
              <a:rPr lang="en"/>
              <a:t> de estilos</a:t>
            </a:r>
            <a:br>
              <a:rPr lang="en"/>
            </a:br>
            <a:r>
              <a:rPr lang="en" sz="1200"/>
              <a:t>Cada uno resuelve problemáticas muy diferentes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844425" y="1586325"/>
            <a:ext cx="5971500" cy="31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Monolítico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Escritorio (Desktop)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Distribuidos: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Cliente servidor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Web liviano y pesado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Móvil web y nativo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Peer-to-Peer (P2P)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MVC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Pipes &amp; Filters</a:t>
            </a:r>
            <a:endParaRPr/>
          </a:p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ctrTitle"/>
          </p:nvPr>
        </p:nvSpPr>
        <p:spPr>
          <a:xfrm>
            <a:off x="826350" y="1519225"/>
            <a:ext cx="76320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3.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Documentación 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  <p:sp>
        <p:nvSpPr>
          <p:cNvPr id="148" name="Google Shape;148;p25"/>
          <p:cNvSpPr txBox="1"/>
          <p:nvPr>
            <p:ph idx="1" type="subTitle"/>
          </p:nvPr>
        </p:nvSpPr>
        <p:spPr>
          <a:xfrm>
            <a:off x="826350" y="2763850"/>
            <a:ext cx="76320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¿Cómo escribo la receta? </a:t>
            </a:r>
            <a:endParaRPr/>
          </a:p>
        </p:txBody>
      </p:sp>
      <p:sp>
        <p:nvSpPr>
          <p:cNvPr id="149" name="Google Shape;149;p2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4E"/>
                </a:solidFill>
              </a:rPr>
              <a:t>Diagramas</a:t>
            </a:r>
            <a:r>
              <a:rPr lang="en"/>
              <a:t> de Arquitectura</a:t>
            </a:r>
            <a:endParaRPr/>
          </a:p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844425" y="1586325"/>
            <a:ext cx="5971500" cy="31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UML: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Diagrama de Componentes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Diagrama de Paquetes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/>
              <a:t>Diagrama de Despliegue </a:t>
            </a:r>
            <a:r>
              <a:rPr lang="en"/>
              <a:t>(el que veremos a continuación)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Diagrama de Stack: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Tecnologías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Lenguajes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40"/>
                </a:solidFill>
              </a:rPr>
              <a:t>Componente</a:t>
            </a:r>
            <a:br>
              <a:rPr lang="en"/>
            </a:br>
            <a:r>
              <a:rPr lang="en"/>
              <a:t>Nodo</a:t>
            </a:r>
            <a:endParaRPr/>
          </a:p>
        </p:txBody>
      </p:sp>
      <p:sp>
        <p:nvSpPr>
          <p:cNvPr id="162" name="Google Shape;162;p2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3" name="Google Shape;1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5200" y="1693300"/>
            <a:ext cx="5717325" cy="19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40"/>
                </a:solidFill>
              </a:rPr>
              <a:t>Componente</a:t>
            </a:r>
            <a:br>
              <a:rPr lang="en"/>
            </a:br>
            <a:r>
              <a:rPr lang="en"/>
              <a:t>Base de datos</a:t>
            </a:r>
            <a:endParaRPr/>
          </a:p>
        </p:txBody>
      </p:sp>
      <p:sp>
        <p:nvSpPr>
          <p:cNvPr id="169" name="Google Shape;169;p2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5075" y="2131800"/>
            <a:ext cx="1205650" cy="133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0250" y="2366175"/>
            <a:ext cx="153352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9225" y="2292788"/>
            <a:ext cx="1114425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40"/>
                </a:solidFill>
              </a:rPr>
              <a:t>Componente</a:t>
            </a:r>
            <a:br>
              <a:rPr lang="en"/>
            </a:br>
            <a:r>
              <a:rPr lang="en"/>
              <a:t>Red</a:t>
            </a:r>
            <a:endParaRPr/>
          </a:p>
        </p:txBody>
      </p:sp>
      <p:sp>
        <p:nvSpPr>
          <p:cNvPr id="178" name="Google Shape;178;p2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9" name="Google Shape;1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425" y="2346650"/>
            <a:ext cx="7969025" cy="107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40"/>
                </a:solidFill>
              </a:rPr>
              <a:t>Componente</a:t>
            </a:r>
            <a:br>
              <a:rPr lang="en"/>
            </a:br>
            <a:r>
              <a:rPr lang="en"/>
              <a:t>Internet</a:t>
            </a:r>
            <a:endParaRPr/>
          </a:p>
        </p:txBody>
      </p:sp>
      <p:sp>
        <p:nvSpPr>
          <p:cNvPr id="185" name="Google Shape;185;p3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6" name="Google Shape;18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3200" y="2082450"/>
            <a:ext cx="2217900" cy="13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40"/>
                </a:solidFill>
              </a:rPr>
              <a:t>Arquitectura</a:t>
            </a:r>
            <a:br>
              <a:rPr lang="en"/>
            </a:br>
            <a:r>
              <a:rPr lang="en"/>
              <a:t>Cliente Servidor</a:t>
            </a:r>
            <a:endParaRPr/>
          </a:p>
        </p:txBody>
      </p:sp>
      <p:sp>
        <p:nvSpPr>
          <p:cNvPr id="192" name="Google Shape;192;p3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3" name="Google Shape;1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7975" y="1876700"/>
            <a:ext cx="12573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0050" y="1876700"/>
            <a:ext cx="12573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97925" y="2457725"/>
            <a:ext cx="125730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40"/>
                </a:solidFill>
              </a:rPr>
              <a:t>Arquitectura</a:t>
            </a:r>
            <a:br>
              <a:rPr lang="en"/>
            </a:br>
            <a:r>
              <a:rPr lang="en"/>
              <a:t>Web</a:t>
            </a:r>
            <a:endParaRPr/>
          </a:p>
        </p:txBody>
      </p:sp>
      <p:sp>
        <p:nvSpPr>
          <p:cNvPr id="201" name="Google Shape;201;p3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2" name="Google Shape;20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825" y="1893150"/>
            <a:ext cx="36576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1825" y="2843125"/>
            <a:ext cx="39243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1825" y="3628525"/>
            <a:ext cx="5943600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40"/>
                </a:solidFill>
              </a:rPr>
              <a:t>Arquitectura</a:t>
            </a:r>
            <a:br>
              <a:rPr lang="en"/>
            </a:br>
            <a:r>
              <a:rPr lang="en"/>
              <a:t>Web vs Móvil</a:t>
            </a:r>
            <a:endParaRPr/>
          </a:p>
        </p:txBody>
      </p:sp>
      <p:sp>
        <p:nvSpPr>
          <p:cNvPr id="210" name="Google Shape;210;p3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1" name="Google Shape;21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100" y="2115000"/>
            <a:ext cx="549592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725" y="3122600"/>
            <a:ext cx="5876925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844425" y="422500"/>
            <a:ext cx="45213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40"/>
                </a:solidFill>
              </a:rPr>
              <a:t>Componente</a:t>
            </a:r>
            <a:br>
              <a:rPr lang="en"/>
            </a:br>
            <a:r>
              <a:rPr lang="en"/>
              <a:t>Balanceador de Carga</a:t>
            </a:r>
            <a:endParaRPr/>
          </a:p>
        </p:txBody>
      </p:sp>
      <p:sp>
        <p:nvSpPr>
          <p:cNvPr id="218" name="Google Shape;218;p3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9" name="Google Shape;21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550" y="1795613"/>
            <a:ext cx="5467350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40"/>
                </a:solidFill>
              </a:rPr>
              <a:t>Arquitectura</a:t>
            </a:r>
            <a:br>
              <a:rPr lang="en"/>
            </a:br>
            <a:r>
              <a:rPr lang="en"/>
              <a:t>Microservicios</a:t>
            </a:r>
            <a:endParaRPr/>
          </a:p>
        </p:txBody>
      </p:sp>
      <p:sp>
        <p:nvSpPr>
          <p:cNvPr id="225" name="Google Shape;225;p3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6" name="Google Shape;22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1225" y="1975475"/>
            <a:ext cx="487680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40"/>
                </a:solidFill>
              </a:rPr>
              <a:t>Arquitectura</a:t>
            </a:r>
            <a:br>
              <a:rPr lang="en"/>
            </a:br>
            <a:r>
              <a:rPr lang="en"/>
              <a:t>Microservicios</a:t>
            </a:r>
            <a:endParaRPr/>
          </a:p>
        </p:txBody>
      </p:sp>
      <p:sp>
        <p:nvSpPr>
          <p:cNvPr id="232" name="Google Shape;232;p3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3" name="Google Shape;23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088" y="1893175"/>
            <a:ext cx="6219825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40"/>
                </a:solidFill>
              </a:rPr>
              <a:t>Componente</a:t>
            </a:r>
            <a:br>
              <a:rPr lang="en"/>
            </a:br>
            <a:r>
              <a:rPr lang="en"/>
              <a:t>Cola de mensajes</a:t>
            </a:r>
            <a:endParaRPr/>
          </a:p>
        </p:txBody>
      </p:sp>
      <p:sp>
        <p:nvSpPr>
          <p:cNvPr id="239" name="Google Shape;239;p3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0" name="Google Shape;24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5600" y="1987363"/>
            <a:ext cx="4465325" cy="116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>
            <p:ph type="ctrTitle"/>
          </p:nvPr>
        </p:nvSpPr>
        <p:spPr>
          <a:xfrm>
            <a:off x="826350" y="1519225"/>
            <a:ext cx="76320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3.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Despliegue 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  <p:sp>
        <p:nvSpPr>
          <p:cNvPr id="246" name="Google Shape;246;p38"/>
          <p:cNvSpPr txBox="1"/>
          <p:nvPr>
            <p:ph idx="1" type="subTitle"/>
          </p:nvPr>
        </p:nvSpPr>
        <p:spPr>
          <a:xfrm>
            <a:off x="826350" y="2763850"/>
            <a:ext cx="76320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¿Dónde pongo la cocina?</a:t>
            </a:r>
            <a:endParaRPr/>
          </a:p>
        </p:txBody>
      </p:sp>
      <p:sp>
        <p:nvSpPr>
          <p:cNvPr id="247" name="Google Shape;247;p3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/>
          <p:nvPr>
            <p:ph type="title"/>
          </p:nvPr>
        </p:nvSpPr>
        <p:spPr>
          <a:xfrm>
            <a:off x="844425" y="422500"/>
            <a:ext cx="322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Plataformas de despliegue</a:t>
            </a:r>
            <a:endParaRPr/>
          </a:p>
        </p:txBody>
      </p:sp>
      <p:sp>
        <p:nvSpPr>
          <p:cNvPr id="253" name="Google Shape;253;p39"/>
          <p:cNvSpPr txBox="1"/>
          <p:nvPr>
            <p:ph idx="1" type="body"/>
          </p:nvPr>
        </p:nvSpPr>
        <p:spPr>
          <a:xfrm>
            <a:off x="844425" y="1586325"/>
            <a:ext cx="5971500" cy="31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Bare Metal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Refrigeración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Conexión a internet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Fuente de energía constante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Servicio técnico veloz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 la nube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IaaS (infraestructura):  Digital Ocean, AWS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PaaS (plataforma)</a:t>
            </a:r>
            <a:r>
              <a:rPr lang="en"/>
              <a:t>: </a:t>
            </a:r>
            <a:r>
              <a:rPr lang="en"/>
              <a:t>Heroku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SaaS (software)</a:t>
            </a:r>
            <a:r>
              <a:rPr lang="en"/>
              <a:t>: Salesforce</a:t>
            </a:r>
            <a:endParaRPr/>
          </a:p>
        </p:txBody>
      </p:sp>
      <p:sp>
        <p:nvSpPr>
          <p:cNvPr id="254" name="Google Shape;254;p3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>
            <p:ph type="ctrTitle"/>
          </p:nvPr>
        </p:nvSpPr>
        <p:spPr>
          <a:xfrm>
            <a:off x="826350" y="1519225"/>
            <a:ext cx="76320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4</a:t>
            </a:r>
            <a:r>
              <a:rPr lang="en" sz="2900"/>
              <a:t>.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Demo 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  <p:sp>
        <p:nvSpPr>
          <p:cNvPr id="260" name="Google Shape;260;p40"/>
          <p:cNvSpPr txBox="1"/>
          <p:nvPr>
            <p:ph idx="1" type="subTitle"/>
          </p:nvPr>
        </p:nvSpPr>
        <p:spPr>
          <a:xfrm>
            <a:off x="826350" y="2763850"/>
            <a:ext cx="76320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ver qué onda todo esto...</a:t>
            </a:r>
            <a:endParaRPr/>
          </a:p>
        </p:txBody>
      </p:sp>
      <p:sp>
        <p:nvSpPr>
          <p:cNvPr id="261" name="Google Shape;261;p4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type="title"/>
          </p:nvPr>
        </p:nvSpPr>
        <p:spPr>
          <a:xfrm>
            <a:off x="844425" y="422500"/>
            <a:ext cx="35514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la clase que viene</a:t>
            </a:r>
            <a:endParaRPr/>
          </a:p>
        </p:txBody>
      </p:sp>
      <p:sp>
        <p:nvSpPr>
          <p:cNvPr id="267" name="Google Shape;267;p41"/>
          <p:cNvSpPr txBox="1"/>
          <p:nvPr>
            <p:ph idx="1" type="body"/>
          </p:nvPr>
        </p:nvSpPr>
        <p:spPr>
          <a:xfrm>
            <a:off x="844425" y="1586325"/>
            <a:ext cx="6792600" cy="31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Les estaremos enviando un email con: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</a:pPr>
            <a:r>
              <a:rPr lang="en">
                <a:solidFill>
                  <a:srgbClr val="FF004E"/>
                </a:solidFill>
              </a:rPr>
              <a:t>Un video</a:t>
            </a:r>
            <a:r>
              <a:rPr lang="en">
                <a:solidFill>
                  <a:srgbClr val="000000"/>
                </a:solidFill>
              </a:rPr>
              <a:t> sobre UX para que vean y apliquen en el TP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</a:pPr>
            <a:r>
              <a:rPr lang="en">
                <a:solidFill>
                  <a:schemeClr val="accent1"/>
                </a:solidFill>
              </a:rPr>
              <a:t>Un apunte</a:t>
            </a:r>
            <a:r>
              <a:rPr lang="en">
                <a:solidFill>
                  <a:srgbClr val="000000"/>
                </a:solidFill>
              </a:rPr>
              <a:t> para que lean sobre arquitectura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Recuerden enviar consultas al </a:t>
            </a:r>
            <a:r>
              <a:rPr b="1" lang="en">
                <a:solidFill>
                  <a:srgbClr val="FF004E"/>
                </a:solidFill>
              </a:rPr>
              <a:t>foro</a:t>
            </a:r>
            <a:endParaRPr b="1">
              <a:solidFill>
                <a:srgbClr val="FF004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8" name="Google Shape;268;p4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 txBox="1"/>
          <p:nvPr>
            <p:ph idx="4294967295" type="ctrTitle"/>
          </p:nvPr>
        </p:nvSpPr>
        <p:spPr>
          <a:xfrm>
            <a:off x="2361750" y="1586500"/>
            <a:ext cx="63699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</a:rPr>
              <a:t>Muchas Gracias!!</a:t>
            </a:r>
            <a:endParaRPr sz="6000">
              <a:solidFill>
                <a:srgbClr val="FFFFFF"/>
              </a:solidFill>
            </a:endParaRPr>
          </a:p>
        </p:txBody>
      </p:sp>
      <p:sp>
        <p:nvSpPr>
          <p:cNvPr id="274" name="Google Shape;274;p42"/>
          <p:cNvSpPr txBox="1"/>
          <p:nvPr>
            <p:ph idx="4294967295" type="subTitle"/>
          </p:nvPr>
        </p:nvSpPr>
        <p:spPr>
          <a:xfrm>
            <a:off x="2380675" y="2775675"/>
            <a:ext cx="4631400" cy="22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00000"/>
                </a:solidFill>
              </a:rPr>
              <a:t>Si tienen consultas</a:t>
            </a:r>
            <a:endParaRPr sz="3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https://github.com/dds-jv/foro</a:t>
            </a:r>
            <a:endParaRPr b="1" sz="3600">
              <a:solidFill>
                <a:srgbClr val="000000"/>
              </a:solidFill>
            </a:endParaRPr>
          </a:p>
        </p:txBody>
      </p:sp>
      <p:pic>
        <p:nvPicPr>
          <p:cNvPr descr="photo-1434030216411-0b793f4b4173.jpg" id="275" name="Google Shape;27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01" y="1874860"/>
            <a:ext cx="1393800" cy="1393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76" name="Google Shape;276;p4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idele template">
  <a:themeElements>
    <a:clrScheme name="Custom 347">
      <a:dk1>
        <a:srgbClr val="000000"/>
      </a:dk1>
      <a:lt1>
        <a:srgbClr val="FFFFFF"/>
      </a:lt1>
      <a:dk2>
        <a:srgbClr val="3F3F3F"/>
      </a:dk2>
      <a:lt2>
        <a:srgbClr val="F3F3F3"/>
      </a:lt2>
      <a:accent1>
        <a:srgbClr val="FF004E"/>
      </a:accent1>
      <a:accent2>
        <a:srgbClr val="901829"/>
      </a:accent2>
      <a:accent3>
        <a:srgbClr val="5AB1C9"/>
      </a:accent3>
      <a:accent4>
        <a:srgbClr val="66B368"/>
      </a:accent4>
      <a:accent5>
        <a:srgbClr val="EFAB00"/>
      </a:accent5>
      <a:accent6>
        <a:srgbClr val="E5804B"/>
      </a:accent6>
      <a:hlink>
        <a:srgbClr val="FF004E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